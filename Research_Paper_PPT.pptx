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Insurance Penetration — India vs. Peers (% of GDP)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Insurance Penetration (% GDP)</c:v>
                </c:pt>
              </c:strCache>
            </c:strRef>
          </c:tx>
          <c:spPr>
            <a:solidFill>
              <a:srgbClr val="E84C1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4C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A5-6E48-B6DA-5119709797CA}"/>
              </c:ext>
            </c:extLst>
          </c:dPt>
          <c:dPt>
            <c:idx val="1"/>
            <c:invertIfNegative val="0"/>
            <c:bubble3D val="0"/>
            <c:spPr>
              <a:solidFill>
                <a:srgbClr val="4BAC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A5-6E48-B6DA-5119709797CA}"/>
              </c:ext>
            </c:extLst>
          </c:dPt>
          <c:dPt>
            <c:idx val="2"/>
            <c:invertIfNegative val="0"/>
            <c:bubble3D val="0"/>
            <c:spPr>
              <a:solidFill>
                <a:srgbClr val="4BAC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A5-6E48-B6DA-5119709797CA}"/>
              </c:ext>
            </c:extLst>
          </c:dPt>
          <c:dPt>
            <c:idx val="3"/>
            <c:invertIfNegative val="0"/>
            <c:bubble3D val="0"/>
            <c:spPr>
              <a:solidFill>
                <a:srgbClr val="4BAC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A5-6E48-B6DA-5119709797CA}"/>
              </c:ext>
            </c:extLst>
          </c:dPt>
          <c:dPt>
            <c:idx val="4"/>
            <c:invertIfNegative val="0"/>
            <c:bubble3D val="0"/>
            <c:spPr>
              <a:solidFill>
                <a:srgbClr val="4BAC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A5-6E48-B6DA-5119709797CA}"/>
              </c:ext>
            </c:extLst>
          </c:dPt>
          <c:dPt>
            <c:idx val="5"/>
            <c:invertIfNegative val="0"/>
            <c:bubble3D val="0"/>
            <c:spPr>
              <a:solidFill>
                <a:srgbClr val="4BAC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A5-6E48-B6DA-5119709797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India</c:v>
                </c:pt>
                <c:pt idx="1">
                  <c:v>China</c:v>
                </c:pt>
                <c:pt idx="2">
                  <c:v>Brazil</c:v>
                </c:pt>
                <c:pt idx="3">
                  <c:v>UK</c:v>
                </c:pt>
                <c:pt idx="4">
                  <c:v>US</c:v>
                </c:pt>
                <c:pt idx="5">
                  <c:v>S. 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3.7</c:v>
                </c:pt>
                <c:pt idx="1">
                  <c:v>4.9000000000000004</c:v>
                </c:pt>
                <c:pt idx="2">
                  <c:v>4.0999999999999996</c:v>
                </c:pt>
                <c:pt idx="3">
                  <c:v>10.3</c:v>
                </c:pt>
                <c:pt idx="4">
                  <c:v>11.7</c:v>
                </c:pt>
                <c:pt idx="5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A5-6E48-B6DA-5119709797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04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CO-OP Project at Industry (Module-2) (22CS421)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the Potential of India's Insurance Industry: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Drivers, Challenges, and Insurtech Pathways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2084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Mor, Sehdev Singh Saini, Eva Aggarwal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0" y="2340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2210992295, 2210992279, 2210991556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0" y="2743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0" y="29443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Ashish Kumar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of Computer Science and Engineering,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Chitkara University, Punjab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" y="108813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389888"/>
            <a:ext cx="39776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India's insurance sector penetration (3.7% GDP) vs. global average (7%)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density gap: India $92 vs. global ~$900 per capita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structural and socio-economic barriers to coverage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5156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01768" y="108813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1389888"/>
            <a:ext cx="39776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liberalisation from 1999 LIC monopoly to multi-player market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IRDAI regulatory evolution and the 2047 'Insurance for All' framework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impact of Ayushman Bharat, PMJJBY and other government schemes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9260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92608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" y="296265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" y="3264408"/>
            <a:ext cx="39776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India against South Africa, China, US and UK peers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traditional agent distribution with emerging insurtech channels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COVID-19 catalytic effect: 35% digital uptake rise in FY2021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2040" y="29260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92040" y="292608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01768" y="296265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01768" y="3264408"/>
            <a:ext cx="39776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Policybazaar, Acko, Digit, Plum and other insurtech innovators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Bima Sugam, Aadhar-linked and UPI-based distribution pathways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market CAGR of 7.1% (2023–2028) and future growth drivers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2560320" y="457200"/>
            <a:ext cx="6217920" cy="425196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70048" y="54864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is a financial tool that protects individuals and businesses against unexpected losses by pooling risk.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one of the world's largest emerging economies yet insurance penetration (3.7% of GDP) remains far below the global average of ~7%.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stands at approximately USD 92 per capita — compared to $900+ in advanced economies — highlighting a massive untapped market.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1999, LIC and GIC held a state monopoly. Liberalisation under the IRDA Act opened the sector to private and foreign players.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24+ life and 30+ non-life insurers operate across agent, bancassurance, broker and digital-direct channels.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decades have seen significant structural changes — yet low awareness, complex products and trust deficits persist.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 firms leveraging smartphones, AI and embedded finance are emerging as transformative forces in bridging the protection gap.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" y="108813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389888"/>
            <a:ext cx="397764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insurance market estimated at ₹7.05 lakh crore (FY2023).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5.6% over past decade; projected CAGR of 7.1% (Swiss Re, 2023–2028).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fastest-growing G20 insurance markets.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commands ~75% of total premium; non-life segment growing faster.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Group forecasts robust growth to 2034 driven by rising middle class and awareness.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3886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51560"/>
            <a:ext cx="388620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01768" y="1088136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Enablers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1389888"/>
            <a:ext cx="370332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infrastructure: Aadhaar (1.4B+), UPI (600M+ users), JAM Trinity.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Pradhan Mantri Jan Arogya Yojana — world's largest health cover scheme.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2047 Blueprint: 'Insurance for All' — universal life, health and property cover.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FDI now permitted in insurance intermediary sector.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catalysed digital adoption: online policy purchases rose 35% in FY2021.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estimates 150 million new policies needed in next 5 years to close the gap.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024128"/>
            <a:ext cx="1920240" cy="1005840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0972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576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vs. 7% Global Avg.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024128"/>
            <a:ext cx="1920240" cy="10058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23160" y="10972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42316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per capita (India)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80560" y="1024128"/>
            <a:ext cx="1920240" cy="10058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80560" y="10972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480560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Urban-rural awareness gap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37960" y="1024128"/>
            <a:ext cx="2240280" cy="1005840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37960" y="109728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800M+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537960" y="162763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Uninsured adults in India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2176272"/>
            <a:ext cx="84124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2176272"/>
            <a:ext cx="841248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" y="221284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" y="2514600"/>
            <a:ext cx="822960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 and financial literacy: most rural households have never interacted with an insurance product.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settlement distrust: complex procedures, lengthy timelines and agent mis-selling have eroded consumer confidence.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and accessibility barriers: policy documents predominantly in English/Hindi; regional language markets underserved.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gaps: agent networks thin in Tier 3+ cities; digital-only channels exclude the ~700M non-smartphone users.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and product mismatch: standard products not designed for informal-sector workers, gig economy and BOP segments.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complexity: compliance costs deter smaller insurtech entrants from scaling micro-insurance models.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28600" y="640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560320" y="457200"/>
            <a:ext cx="6217920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560320" y="457200"/>
            <a:ext cx="62179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70048" y="493776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70048" y="795528"/>
            <a:ext cx="6035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 Institute (2023): India among top 5 fastest-growing insurance markets globally at projected 7.1% CAGR 2023–28.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IBEF (2023): Rising middle class and growing awareness driving demand — non-life segment outpacing life in growth rate.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Group: COVID-19 accelerated digital adoption; online insurance purchases grew 35% YoY in FY2021.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2651760"/>
            <a:ext cx="6217920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60320" y="2651760"/>
            <a:ext cx="62179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70048" y="2688336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 in Literature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70048" y="2990088"/>
            <a:ext cx="6035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focus on urban markets; rural and Tier 3+ dynamics are under-researched.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dividend literature rarely connects youth population to insurance uptake mechanisms.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 impact on claims settlement efficiency and NPS scores lacks longitudinal data.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BCG/FICCI studies highlight distribution problems but few propose scalable BOP-specific models.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" y="108813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389888"/>
            <a:ext cx="397764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Descriptive-analytical approach: synthesises secondary data to characterise market state.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data collection — findings derived from published reports and peer-reviewed papers.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penetration/density metrics, CAGR analysis, comparative benchmarking.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regulatory timeline analysis, insurtech case studies, demand-side behaviour.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Pre/post-COVID analysis to isolate pandemic's catalytic effect on digital adoption.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3886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51560"/>
            <a:ext cx="388620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01768" y="1088136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1389888"/>
            <a:ext cx="370332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Annual Reports (2018–19 to 2022–23)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 Institute Sigma Research Series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Group India Insurance Outlook (2023–2028)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Brand Equity Foundation (IBEF)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Consulting Group (BCG) India Reports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FICCI Insurance Summit White Papers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75th Round household survey data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PricewaterhouseCoopers (PwC) Risk Reports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academic literature on insurtech adoption in emerging markets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28600" y="640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715955" y="717176"/>
            <a:ext cx="2900706" cy="1679753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15955" y="778441"/>
            <a:ext cx="2900706" cy="331927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76901" y="817760"/>
            <a:ext cx="2815391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Market Gap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76901" y="1074706"/>
            <a:ext cx="2815391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3.7% penetration is half the global average of 7%; density of $92 is 10x below US levels.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(12.2% penetration) shows an emerging market can outperform advanced economies with the right policy mix.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69046" y="712976"/>
            <a:ext cx="2900705" cy="1679753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69046" y="774241"/>
            <a:ext cx="2900705" cy="331927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29991" y="813560"/>
            <a:ext cx="2815391" cy="27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Digital Acceleration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29991" y="1070506"/>
            <a:ext cx="2815391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digital channel uptake rose 35%; smartphone-enabled insurtech onboarding reduced KYC time from weeks to minutes.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Policybazaar now serves 95M+ users; Digit Insurance processed claims via photo submission in under 48 hours.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0" y="2571879"/>
            <a:ext cx="6217920" cy="1527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560320" y="2571879"/>
            <a:ext cx="62179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670048" y="2608455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Regulatory Progress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70048" y="2910207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Regulatory Sandbox (2019) enabled 50+ pilot products; FDI raised to 74% (2021) attracted ₹82 billion in foreign capital.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enrolled 550M+ beneficiaries; PMJJBY/PMSBY together cover 300M+ low-income citizens.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28600" y="6400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560320" y="457200"/>
            <a:ext cx="6217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560320" y="457200"/>
            <a:ext cx="62179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70048" y="493776"/>
            <a:ext cx="6035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Structural Barriers Persist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70048" y="795528"/>
            <a:ext cx="60350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Urban-rural awareness anomaly: despite Aadhaar/UPI reach, 65%+ of rural India remains uninsured.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and agent mis-selling continue to suppress demand in non-Hindi, non-English markets.</a:t>
            </a:r>
            <a:endParaRPr lang="en-US" sz="105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691334229"/>
              </p:ext>
            </p:extLst>
          </p:nvPr>
        </p:nvGraphicFramePr>
        <p:xfrm>
          <a:off x="2560320" y="1906580"/>
          <a:ext cx="6217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" y="108813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" y="1389888"/>
            <a:ext cx="39776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insurance sector holds among the world's largest untapped growth opportunities.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even 50% of the penetration gap would add $100B+ in annual premium by 2030.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estimates 150M new policy issuances needed in next five years.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3886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92040" y="1051560"/>
            <a:ext cx="388620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01768" y="1088136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as the Bridge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1389888"/>
            <a:ext cx="37033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 is not a replacement but an amplifier — reaching where agents cannot.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insurance (UPI, e-commerce) and AI-underwriting can serve BOP at near-zero acquisition cost.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Policybazaar, Digit and Acko demonstrate viable digital-first models at scale.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92608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926080"/>
            <a:ext cx="416052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" y="296265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Imperatives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" y="3264408"/>
            <a:ext cx="397764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IRDAI's 2047 framework is a positive signal but implementation must accelerate.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 Sugam, if executed, could unify distribution and reduce friction dramatically.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support and simplified product design are non-negotiable for rural reach.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92040" y="2926080"/>
            <a:ext cx="3886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92040" y="2926080"/>
            <a:ext cx="3886200" cy="30175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01768" y="2962656"/>
            <a:ext cx="3703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01768" y="3264408"/>
            <a:ext cx="370332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maps structural barriers to a set of technology-led and regulatory solutions.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benchmark framework for policymakers, insurers and insurtech startups.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micro-insurance models and BOP-specific product architectures for further study.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8412480" cy="3566160"/>
          </a:xfrm>
          <a:prstGeom prst="rect">
            <a:avLst/>
          </a:prstGeom>
          <a:solidFill>
            <a:srgbClr val="F7F7F7"/>
          </a:solidFill>
          <a:ln w="12700">
            <a:solidFill>
              <a:srgbClr val="E8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research: household surveys across Tier 2–4 cities to quantify demand latency and willingness-to-pay for micro-insurance.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study tracking claim-settlement NPS scores before and after insurtech intervention across selected insurers.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 development for dynamic premium pricing in agriculture insurance using satellite and IoT crop-health data.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 NLP chatbot prototyping for insurance onboarding in Tamil, Telugu, Bengali and other languages.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Bima Sugam post-launch: adoption metrics, insurer on-boarding rates and consumer journey analytics.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insurance adoption study: measuring conversion rates for micro-insurance bundled with UPI transactions and e-commerce checkouts.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benchmarking: comparative study of IRDAI sandbox outcomes vs. UK FCA, Singapore MAS and Australian APRA sandboxes.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 of 100% FDI liberalisation: foreign capital deployment patterns and product innovation pipeline (2021–2026).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4C1E"/>
          </a:solidFill>
          <a:ln w="12700">
            <a:solidFill>
              <a:srgbClr val="E84C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key_out/Data/picture-0-4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"/>
            <a:ext cx="178308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4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71600" y="2560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the Potential of India's Insurance Industry: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Drivers, Challenges, and Insurtech Pathways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Mor | Sehdev Singh Saini | Eva Aggarwal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Ashish Kumar  |  Dept. of CSE, Chitkara University, Punjab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1494</Words>
  <Application>Microsoft Macintosh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the Potential of India's Insurance Industry</dc:title>
  <dc:subject>PptxGenJS Presentation</dc:subject>
  <dc:creator>PptxGenJS</dc:creator>
  <cp:lastModifiedBy>Sehdev Singh Saini</cp:lastModifiedBy>
  <cp:revision>2</cp:revision>
  <dcterms:created xsi:type="dcterms:W3CDTF">2026-04-30T17:08:14Z</dcterms:created>
  <dcterms:modified xsi:type="dcterms:W3CDTF">2026-05-01T04:57:41Z</dcterms:modified>
</cp:coreProperties>
</file>